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10"/>
  </p:normalViewPr>
  <p:slideViewPr>
    <p:cSldViewPr snapToGrid="0" snapToObjects="1">
      <p:cViewPr>
        <p:scale>
          <a:sx n="121" d="100"/>
          <a:sy n="121" d="100"/>
        </p:scale>
        <p:origin x="9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D:/Projects/starborn-eduflow/docs/Eduflow 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234440"/>
            <a:ext cx="21945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EduFlow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376732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O'qituvchilar uchun AI — o'quvchilar uchun o'yin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4270248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yordamida interaktiv ta'lim platformasi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09744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09744"/>
            <a:ext cx="82296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AI Hackathon  ·  Buxoro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kimsiz?</a:t>
            </a:r>
            <a:endParaRPr lang="en-US" sz="2200" dirty="0"/>
          </a:p>
        </p:txBody>
      </p:sp>
      <p:pic>
        <p:nvPicPr>
          <p:cNvPr id="5" name="Image 0" descr="D:/Projects/starborn-eduflow/docs/Eduflow 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858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EduFlow  |  National AI Hackathon  |  Buxoro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32104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0040" y="84124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886968"/>
            <a:ext cx="5212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EduFlow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O'zbekistondagi xususiy maktablar va ta'lim markazlari uchun </a:t>
            </a: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platforma.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1371600"/>
            <a:ext cx="5212080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O'zbekcha tilda AI kurs yaratish, avtomatik baholash va real-vaqt interaktiv o'yinlarni birlashtirgan yagona ta'lim ekotizimi.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841248"/>
            <a:ext cx="9601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89320" y="932688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10,943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989320" y="1572768"/>
            <a:ext cx="9601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040880" y="841248"/>
            <a:ext cx="9601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932688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6.78M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040880" y="1572768"/>
            <a:ext cx="9601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92440" y="841248"/>
            <a:ext cx="9601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092440" y="932688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092440" y="1572768"/>
            <a:ext cx="9601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" y="2377440"/>
            <a:ext cx="85039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487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tavsifi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11480" y="2834640"/>
            <a:ext cx="8412480" cy="9875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o'qituvchilarga AI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yordamida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daqiqada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kurs yaratish va ochiq javoblarni avtomatik tekshirish imkonini beramiz.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O'quvchilar esa XP, “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badge”lar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7 turdagi musobaqali o'yinlar orqali bilimlarini mustahkamlaydi.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20040" y="3950208"/>
            <a:ext cx="202996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3950208"/>
            <a:ext cx="20299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kurs generatsiyasi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487168" y="3950208"/>
            <a:ext cx="202996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87168" y="3950208"/>
            <a:ext cx="20299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Avtomatik baholash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654296" y="3950208"/>
            <a:ext cx="202996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54296" y="3950208"/>
            <a:ext cx="20299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7 turdagi o'yinlar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821424" y="3950208"/>
            <a:ext cx="202996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21424" y="3950208"/>
            <a:ext cx="20299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Gamifikatsiya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— Nima taqdim etamiz?</a:t>
            </a:r>
            <a:endParaRPr lang="en-US" sz="2200" dirty="0"/>
          </a:p>
        </p:txBody>
      </p:sp>
      <p:pic>
        <p:nvPicPr>
          <p:cNvPr id="5" name="Image 0" descr="D:/Projects/starborn-eduflow/docs/Eduflow 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858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EduFlow  |  National AI Hackathon  |  Buxoro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32104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0040" y="841248"/>
            <a:ext cx="2029968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841248"/>
            <a:ext cx="2029968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969264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93192" y="1481328"/>
            <a:ext cx="188366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93192" y="1892808"/>
            <a:ext cx="1883664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Tashkilot, sinf, o'qituvchi boshqaruvi va to'liq tahlil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87168" y="841248"/>
            <a:ext cx="2029968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87168" y="841248"/>
            <a:ext cx="2029968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87168" y="969264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👨‍🏫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2560320" y="1481328"/>
            <a:ext cx="188366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Vositalari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560320" y="1892808"/>
            <a:ext cx="1883664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kurs yaratish, vazifa berish va baholash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54296" y="841248"/>
            <a:ext cx="2029968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54296" y="841248"/>
            <a:ext cx="2029968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54296" y="969264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727448" y="1481328"/>
            <a:ext cx="188366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Muhiti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27448" y="1892808"/>
            <a:ext cx="1883664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ko'rish, vazifa bajarish, musobaqali o'yinlar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821424" y="841248"/>
            <a:ext cx="2029968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821424" y="841248"/>
            <a:ext cx="2029968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21424" y="969264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👨‍👩‍👧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6894576" y="1481328"/>
            <a:ext cx="188366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 Monitoring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894576" y="1892808"/>
            <a:ext cx="1883664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vaqtda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rivojlanish va statistika kuzatuvi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20040" y="2487168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funksiyalar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20040" y="2898648"/>
            <a:ext cx="329184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28986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49808" y="2871216"/>
            <a:ext cx="8028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kurs generatsiyasi — mavzu + sinf kiritilsa, to'liq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daqiqada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tayyor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320040" y="3300984"/>
            <a:ext cx="329184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33009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49808" y="3273552"/>
            <a:ext cx="8028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AI baholash — ochiq javoblar + o'qituvchi tasdiqi (3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bosqichli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pipeline)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320040" y="3703320"/>
            <a:ext cx="329184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" y="37033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🎮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49808" y="3675888"/>
            <a:ext cx="8028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turdagi real-vaqt musobaqali o'yinlar: Blitz Jang, Xarita Jang, Piramida va boshqalar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320040" y="4105656"/>
            <a:ext cx="329184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0040" y="41056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49808" y="4078224"/>
            <a:ext cx="8028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Real-vaqt dashboard — tashkilot, o'qituvchi va o'quvchi uchun to'liq statistika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320040" y="4507992"/>
            <a:ext cx="329184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0040" y="45079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49808" y="4480560"/>
            <a:ext cx="8028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Gamifikatsiya — XP, 10 daraja, kunlik streaklar va 10+ nishon tizimi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hal qilayotgan muammo</a:t>
            </a:r>
            <a:endParaRPr lang="en-US" sz="2200" dirty="0"/>
          </a:p>
        </p:txBody>
      </p:sp>
      <p:pic>
        <p:nvPicPr>
          <p:cNvPr id="5" name="Image 0" descr="D:/Projects/starborn-eduflow/docs/Eduflow 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858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EduFlow  |  National AI Hackathon  |  Buxoro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32104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0040" y="841248"/>
            <a:ext cx="8503920" cy="98755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841248"/>
            <a:ext cx="91440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" y="877824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“Toshkentdagi o'qituvchi har kuni 2–3 soat 20–40 ta daftarni qo'lda tekshiradi. O'quvchilar xatoni keyingi darsda bilib qoladi. Ota-onalar farzandining rivojini ko'ra olmaydi.”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0040" y="1956816"/>
            <a:ext cx="416052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1956816"/>
            <a:ext cx="4160520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048256"/>
            <a:ext cx="59436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69848" y="2066544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Qo'lda baholash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69848" y="2468880"/>
            <a:ext cx="333756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soat/kun, 20–40 daftar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charchaydi, sifat pasayadi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81728" y="1956816"/>
            <a:ext cx="416052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81728" y="1956816"/>
            <a:ext cx="4160520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2048256"/>
            <a:ext cx="59436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📵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431536" y="2066544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O'zbekcha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platformalar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31536" y="2468880"/>
            <a:ext cx="333756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yetishmasligi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O'quvchilar passiv, motivatsiya yo'q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0040" y="3364992"/>
            <a:ext cx="416052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3364992"/>
            <a:ext cx="4160520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3456432"/>
            <a:ext cx="59436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069848" y="3474720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Kech fikr-mulohaza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69848" y="3877056"/>
            <a:ext cx="333756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Xatolar keyingi darsda bilinadi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bo'shliqlari to'planadi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681728" y="3364992"/>
            <a:ext cx="416052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81728" y="3364992"/>
            <a:ext cx="4160520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73168" y="3456432"/>
            <a:ext cx="59436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5431536" y="3474720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Real-vaqt statistika yo'q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31536" y="3877056"/>
            <a:ext cx="333756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Tashkilot boshqaruvi uchun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yo'q, samarasiz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Группа 40"/>
          <p:cNvGrpSpPr/>
          <p:nvPr/>
        </p:nvGrpSpPr>
        <p:grpSpPr>
          <a:xfrm>
            <a:off x="237744" y="1097280"/>
            <a:ext cx="5029200" cy="3226413"/>
            <a:chOff x="237744" y="765731"/>
            <a:chExt cx="5029200" cy="3226413"/>
          </a:xfrm>
        </p:grpSpPr>
        <p:sp>
          <p:nvSpPr>
            <p:cNvPr id="9" name="Shape 6"/>
            <p:cNvSpPr/>
            <p:nvPr/>
          </p:nvSpPr>
          <p:spPr>
            <a:xfrm>
              <a:off x="237744" y="765731"/>
              <a:ext cx="5029200" cy="3226413"/>
            </a:xfrm>
            <a:prstGeom prst="rect">
              <a:avLst/>
            </a:prstGeom>
            <a:solidFill>
              <a:srgbClr val="EFF6FF"/>
            </a:solidFill>
            <a:ln w="19050">
              <a:solidFill>
                <a:srgbClr val="BFDBFE"/>
              </a:solidFill>
              <a:prstDash val="solid"/>
            </a:ln>
          </p:spPr>
        </p:sp>
        <p:sp>
          <p:nvSpPr>
            <p:cNvPr id="12" name="Text 9"/>
            <p:cNvSpPr/>
            <p:nvPr/>
          </p:nvSpPr>
          <p:spPr>
            <a:xfrm>
              <a:off x="411480" y="886968"/>
              <a:ext cx="640080" cy="23774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TAM</a:t>
              </a:r>
              <a:endParaRPr lang="en-US" sz="12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411480" y="1101694"/>
              <a:ext cx="1060085" cy="3840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$1.2 mlrd</a:t>
              </a:r>
              <a:endParaRPr lang="en-US" sz="20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1471565" y="861054"/>
              <a:ext cx="3560642" cy="594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O'zbekiston umumiy ta'lim bozori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10,943 maktab | 6.78 mln o'quvchi | 99.6% internet (UNICEF)</a:t>
              </a:r>
              <a:endParaRPr lang="en-US" sz="1200" dirty="0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 va maqsadli auditoriya</a:t>
            </a:r>
            <a:endParaRPr lang="en-US" sz="2200" dirty="0"/>
          </a:p>
        </p:txBody>
      </p:sp>
      <p:pic>
        <p:nvPicPr>
          <p:cNvPr id="5" name="Image 0" descr="D:/Projects/starborn-eduflow/docs/Eduflow 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858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EduFlow  |  National AI Hackathon  |  Buxoro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32104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  <p:grpSp>
        <p:nvGrpSpPr>
          <p:cNvPr id="42" name="Группа 41"/>
          <p:cNvGrpSpPr/>
          <p:nvPr/>
        </p:nvGrpSpPr>
        <p:grpSpPr>
          <a:xfrm>
            <a:off x="514744" y="1865376"/>
            <a:ext cx="4365472" cy="2221992"/>
            <a:chOff x="594360" y="1135357"/>
            <a:chExt cx="4480560" cy="3182112"/>
          </a:xfrm>
        </p:grpSpPr>
        <p:sp>
          <p:nvSpPr>
            <p:cNvPr id="10" name="Shape 7"/>
            <p:cNvSpPr/>
            <p:nvPr/>
          </p:nvSpPr>
          <p:spPr>
            <a:xfrm>
              <a:off x="594360" y="1135357"/>
              <a:ext cx="4480560" cy="3182112"/>
            </a:xfrm>
            <a:prstGeom prst="rect">
              <a:avLst/>
            </a:prstGeom>
            <a:solidFill>
              <a:srgbClr val="DBEAFE"/>
            </a:solidFill>
            <a:ln w="19050">
              <a:solidFill>
                <a:srgbClr val="93C5FD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787817" y="1328683"/>
              <a:ext cx="640080" cy="3402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</a:t>
              </a:r>
              <a:endParaRPr lang="en-US" sz="12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816851" y="1673994"/>
              <a:ext cx="1085755" cy="55164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~$60 mln</a:t>
              </a:r>
              <a:endParaRPr lang="en-US" sz="20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1872461" y="1243617"/>
              <a:ext cx="2960274" cy="8506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Raqamli/EdTech segment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2,000+ shahar maktablari, raqamli tayyorgarlik</a:t>
              </a:r>
              <a:endParaRPr lang="en-US" sz="1200" dirty="0"/>
            </a:p>
          </p:txBody>
        </p:sp>
      </p:grpSp>
      <p:grpSp>
        <p:nvGrpSpPr>
          <p:cNvPr id="43" name="Группа 42"/>
          <p:cNvGrpSpPr/>
          <p:nvPr/>
        </p:nvGrpSpPr>
        <p:grpSpPr>
          <a:xfrm>
            <a:off x="913428" y="2681760"/>
            <a:ext cx="3338532" cy="1219830"/>
            <a:chOff x="868680" y="1389888"/>
            <a:chExt cx="5979818" cy="2386584"/>
          </a:xfrm>
        </p:grpSpPr>
        <p:sp>
          <p:nvSpPr>
            <p:cNvPr id="11" name="Shape 8"/>
            <p:cNvSpPr/>
            <p:nvPr/>
          </p:nvSpPr>
          <p:spPr>
            <a:xfrm>
              <a:off x="868680" y="1389888"/>
              <a:ext cx="5979818" cy="2386584"/>
            </a:xfrm>
            <a:prstGeom prst="rect">
              <a:avLst/>
            </a:prstGeom>
            <a:solidFill>
              <a:srgbClr val="BFDBFE"/>
            </a:solidFill>
            <a:ln w="25400">
              <a:solidFill>
                <a:srgbClr val="2563EB"/>
              </a:solidFill>
              <a:prstDash val="solid"/>
            </a:ln>
          </p:spPr>
        </p:sp>
        <p:sp>
          <p:nvSpPr>
            <p:cNvPr id="18" name="Text 15"/>
            <p:cNvSpPr/>
            <p:nvPr/>
          </p:nvSpPr>
          <p:spPr>
            <a:xfrm>
              <a:off x="1105264" y="1662229"/>
              <a:ext cx="640081" cy="46486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SOM</a:t>
              </a:r>
              <a:endParaRPr lang="en-US" sz="12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1105264" y="2076952"/>
              <a:ext cx="1558714" cy="7536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~$5 mln</a:t>
              </a:r>
              <a:endParaRPr lang="en-US" sz="18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2840806" y="1582009"/>
              <a:ext cx="3813756" cy="116215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500 tashkilot × $100/oy × 12 oy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yillik realistik maqsad</a:t>
              </a:r>
              <a:endParaRPr lang="en-US" sz="1200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5577840" y="886968"/>
            <a:ext cx="32461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614416" y="886968"/>
            <a:ext cx="3840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035040" y="932688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16.9% CAGR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035040" y="1234440"/>
            <a:ext cx="2724912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 EdTech o'sishi (2025–2034)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577840" y="1636776"/>
            <a:ext cx="32461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614416" y="1636776"/>
            <a:ext cx="3840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🏫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035040" y="1682496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&gt;10,000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035040" y="1984248"/>
            <a:ext cx="2724912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O'zbekistondagi maktablar soni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77840" y="2386584"/>
            <a:ext cx="32461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614416" y="2386584"/>
            <a:ext cx="3840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👨‍🎓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035040" y="2432304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&gt;6.78 mln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035040" y="2734056"/>
            <a:ext cx="2724912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o'quvchilar soni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577840" y="3136392"/>
            <a:ext cx="32461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614416" y="3136392"/>
            <a:ext cx="3840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035040" y="318211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035040" y="3483864"/>
            <a:ext cx="2724912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bilan ta'minlangan maktablar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577840" y="3886200"/>
            <a:ext cx="32461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614416" y="3886200"/>
            <a:ext cx="3840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6035040" y="3931920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&gt;500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035040" y="4233672"/>
            <a:ext cx="2724912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O’zbekistonda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nodavlat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maktablar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va Raqobatchilar Tahlili</a:t>
            </a:r>
            <a:endParaRPr lang="en-US" sz="2200" dirty="0"/>
          </a:p>
        </p:txBody>
      </p:sp>
      <p:pic>
        <p:nvPicPr>
          <p:cNvPr id="5" name="Image 0" descr="D:/Projects/starborn-eduflow/docs/Eduflow 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858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EduFlow  |  National AI Hackathon  |  Buxoro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32104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20040" y="804672"/>
          <a:ext cx="7251192" cy="3291840"/>
        </p:xfrm>
        <a:graphic>
          <a:graphicData uri="http://schemas.openxmlformats.org/drawingml/2006/table">
            <a:tbl>
              <a:tblPr/>
              <a:tblGrid>
                <a:gridCol w="1783080"/>
                <a:gridCol w="914400"/>
                <a:gridCol w="914400"/>
                <a:gridCol w="914400"/>
                <a:gridCol w="914400"/>
                <a:gridCol w="1810512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Platforma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baholash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O'zbekcha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Kurs tizimi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Gamifikatsiya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Narx modeli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EduFlow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7 o'yin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$50–200/oy (tashkilot)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EduBaza.uz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 (Pro: ~$3.6/oy)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Topqir.uz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 (Pro: ~88.5-221 </a:t>
                      </a:r>
                      <a:r>
                        <a:rPr lang="en-US" sz="8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Tashkilot</a:t>
                      </a: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SNRUZ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(STEAM)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Offline; ~$45–60/kurs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Kahoot!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Freemium; $19/oy dan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Quizizz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🔶 MCQ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Freemium; ~$5/oy dan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Nearpod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🔶 slayd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🔶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Freemium; $159/yil dan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Classroom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Bepul (asosiy)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526280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EduFuse (IT Park Ventures tomonidan $10K investitsiya olgan startup) haqida yetarli ochiq ma'lumot topilmadi — mahsulot/veb-sayt faol emas.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 modeli</a:t>
            </a:r>
            <a:endParaRPr lang="en-US" sz="2200" dirty="0"/>
          </a:p>
        </p:txBody>
      </p:sp>
      <p:pic>
        <p:nvPicPr>
          <p:cNvPr id="5" name="Image 0" descr="D:/Projects/starborn-eduflow/docs/Eduflow 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858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EduFlow  |  National AI Hackathon  |  Buxoro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32104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— tashkilotlar obuna to'laydi (individual foydalanuvchilar emas)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20040" y="1078992"/>
            <a:ext cx="8503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 maktablar va ta'lim markazlari to'laydi — 1 obuna = butun tashkilot (cheksiz o'quvchilar)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417320"/>
            <a:ext cx="2029968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93192" y="1463040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sinov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3192" y="1828800"/>
            <a:ext cx="188366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kun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3192" y="2340864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sinf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3192" y="2596896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Cheklangan AI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87168" y="1417320"/>
            <a:ext cx="2029968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560320" y="1463040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60320" y="1828800"/>
            <a:ext cx="188366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$50/oy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560320" y="2340864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 sinf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560320" y="2596896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AI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54296" y="1417320"/>
            <a:ext cx="2029968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54296" y="1417320"/>
            <a:ext cx="20299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54296" y="1417320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Hamyonbop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727448" y="1645920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27448" y="2011680"/>
            <a:ext cx="188366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$100/oy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727448" y="2523744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6–15 sinf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27448" y="2779776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Tahlil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821424" y="1417320"/>
            <a:ext cx="2029968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894576" y="1463040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894576" y="1828800"/>
            <a:ext cx="188366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$200/oy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894576" y="2340864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sinf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894576" y="2596896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AI + API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0040" y="3419856"/>
            <a:ext cx="4892040" cy="137160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8912" y="3474720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(15 tashkilot, 500 o'quvchi)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3767328"/>
            <a:ext cx="3383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023360" y="3767328"/>
            <a:ext cx="1097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57200" y="3918204"/>
            <a:ext cx="3383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baholash xarajati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023360" y="3918204"/>
            <a:ext cx="1097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−$475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57200" y="4069080"/>
            <a:ext cx="3383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generatsiyasi (avg 5 kurs/tashkilot)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023360" y="4069080"/>
            <a:ext cx="1097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−$115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57200" y="4219956"/>
            <a:ext cx="3383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Infratuzilma (Railway + Vercel + Supabase)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023360" y="4219956"/>
            <a:ext cx="1097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−$65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57200" y="4370832"/>
            <a:ext cx="3383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 foyda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023360" y="4370832"/>
            <a:ext cx="1097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$845/oy ✅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57200" y="4521708"/>
            <a:ext cx="3383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4023360" y="4521708"/>
            <a:ext cx="10972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tashkilot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394960" y="3419856"/>
            <a:ext cx="3429000" cy="13716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532120" y="34747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to'laydi?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5532120" y="3767328"/>
            <a:ext cx="32004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44145" indent="-144145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O'qituvchiga oyiga ~60 soat vaqt tejaydi</a:t>
            </a:r>
            <a:endParaRPr lang="en-US" sz="1200" dirty="0"/>
          </a:p>
          <a:p>
            <a:pPr marL="144145" indent="-144145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yaratish narxi: ~$1.5/kurs (6 modul × 5 mavzu)</a:t>
            </a:r>
            <a:endParaRPr lang="en-US" sz="1200" dirty="0"/>
          </a:p>
          <a:p>
            <a:pPr marL="144145" indent="-144145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motivatsiyasi va ota-ona ishonchi oshadi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va KPI — Maqsadlar</a:t>
            </a:r>
            <a:endParaRPr lang="en-US" sz="2200" dirty="0"/>
          </a:p>
        </p:txBody>
      </p:sp>
      <p:pic>
        <p:nvPicPr>
          <p:cNvPr id="5" name="Image 0" descr="D:/Projects/starborn-eduflow/docs/Eduflow 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858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EduFlow  |  National AI Hackathon  |  Buxoro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32104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20040" y="795528"/>
          <a:ext cx="8183880" cy="27432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371600"/>
                <a:gridCol w="1371600"/>
                <a:gridCol w="196596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Davr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Tashkilot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O'quvchi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 foyda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 (MVP) 🏆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Hackathon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2026 (6 oy)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~$415/oy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2027 (1 yil)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~$1,905/oy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2028 (2 yil)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~$13,100/oy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2029 (3 yil)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~$37,750/oy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3639312"/>
            <a:ext cx="85039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3639312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xarajat hisob-kitobi: Baholash $0.95/o'quvchi/oy  ·  Kurs generatsiyasi ~$1.5/kurs (6 modul × 5 mavzu)  ·  Jami xarajat ≈ MRRning 52%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20040" y="39776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KPI maqsadlar: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0040" y="4297680"/>
            <a:ext cx="2029968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93192" y="4315968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−70%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17320" y="4315968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baholash vaqti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2487168" y="4297680"/>
            <a:ext cx="2029968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560320" y="4315968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+40%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584448" y="4315968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 bajarish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ko'rsatkichi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654296" y="4297680"/>
            <a:ext cx="2029968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727448" y="4315968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5 min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751576" y="4315968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kurs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generatsiyasi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821424" y="4297680"/>
            <a:ext cx="2029968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894576" y="4315968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99.5%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918704" y="4315968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Bizning jamoamiz</a:t>
            </a:r>
            <a:endParaRPr lang="en-US" sz="2200" dirty="0"/>
          </a:p>
        </p:txBody>
      </p:sp>
      <p:pic>
        <p:nvPicPr>
          <p:cNvPr id="5" name="Image 0" descr="D:/Projects/starborn-eduflow/docs/Eduflow 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5720"/>
            <a:ext cx="6858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EduFlow  |  National AI Hackathon  |  Buxoro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32104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0040" y="841248"/>
            <a:ext cx="2029968" cy="3310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841248"/>
            <a:ext cx="2029968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097280"/>
            <a:ext cx="914400" cy="91440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10972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93192" y="2084832"/>
            <a:ext cx="188366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Akramov Oybek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6384" y="2505456"/>
            <a:ext cx="10972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" y="250545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3192" y="283464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3154680"/>
            <a:ext cx="1024128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15468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4 yil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487168" y="841248"/>
            <a:ext cx="2029968" cy="3310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487168" y="841248"/>
            <a:ext cx="2029968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44952" y="1097280"/>
            <a:ext cx="914400" cy="914400"/>
          </a:xfrm>
          <a:prstGeom prst="lin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44952" y="10972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2560320" y="2084832"/>
            <a:ext cx="188366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Muxtorov Javohirbek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953512" y="2505456"/>
            <a:ext cx="10972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53512" y="250545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Co-CEO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560320" y="2834640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990088" y="3154680"/>
            <a:ext cx="1024128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90088" y="315468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2 yil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54296" y="841248"/>
            <a:ext cx="2029968" cy="3310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654296" y="841248"/>
            <a:ext cx="202996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12080" y="1097280"/>
            <a:ext cx="914400" cy="914400"/>
          </a:xfrm>
          <a:prstGeom prst="lin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12080" y="10972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4727448" y="2084832"/>
            <a:ext cx="188366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Amonov Ahmadjon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727448" y="2578608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157216" y="2907792"/>
            <a:ext cx="1024128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57216" y="2907792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2 yil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821424" y="841248"/>
            <a:ext cx="2029968" cy="3310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21424" y="841248"/>
            <a:ext cx="2029968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379208" y="1097280"/>
            <a:ext cx="914400" cy="914400"/>
          </a:xfrm>
          <a:prstGeom prst="lin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379208" y="10972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6894576" y="2084832"/>
            <a:ext cx="188366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Amonov Aminjon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894576" y="2578608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324344" y="2907792"/>
            <a:ext cx="1024128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24344" y="2907792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2 yil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0" y="4279392"/>
            <a:ext cx="9144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7200" y="427939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Next.js 14  ·  FastAPI  ·  PostgreSQL  ·  Claude AI  ·  WebSocket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320040" y="4700016"/>
            <a:ext cx="8503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nafar Full Stack muhandis — Frontend, Backend, AI integratsiya va UX</a:t>
            </a:r>
            <a:endParaRPr lang="en-US" sz="1050" dirty="0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90" y="1109345"/>
            <a:ext cx="868680" cy="1113790"/>
          </a:xfrm>
          <a:prstGeom prst="rect">
            <a:avLst/>
          </a:prstGeom>
        </p:spPr>
      </p:pic>
      <p:pic>
        <p:nvPicPr>
          <p:cNvPr id="50" name="Picture 49" descr="telegram-cloud-photo-size-2-5235941510854332547-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580" y="1097280"/>
            <a:ext cx="1040765" cy="1125855"/>
          </a:xfrm>
          <a:prstGeom prst="rect">
            <a:avLst/>
          </a:prstGeom>
        </p:spPr>
      </p:pic>
      <p:pic>
        <p:nvPicPr>
          <p:cNvPr id="51" name="Picture 50" descr="telegram-cloud-photo-size-2-5382173520810415018-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024255"/>
            <a:ext cx="904875" cy="117221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825" y="1040130"/>
            <a:ext cx="904875" cy="1183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5049</Words>
  <Application>WPS Presentation</Application>
  <PresentationFormat>Экран (16:9)</PresentationFormat>
  <Paragraphs>516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Apple Color Emoji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EduFlow — AI ta'lim platformasi</dc:title>
  <dc:creator>EduFlow Team</dc:creator>
  <dc:subject>PptxGenJS Presentation</dc:subject>
  <cp:lastModifiedBy>Akramov Oybek</cp:lastModifiedBy>
  <cp:revision>3</cp:revision>
  <dcterms:created xsi:type="dcterms:W3CDTF">2026-04-13T12:44:06Z</dcterms:created>
  <dcterms:modified xsi:type="dcterms:W3CDTF">2026-04-13T12:44:06Z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97E37AE508A968CD16E5DC69C5EC117B_43</vt:lpwstr>
  </property>
  <property fmtid="{D5CDD505-2E9C-101B-9397-08002B2CF9AE}" pid="3" name="KSOProductBuildVer">
    <vt:lpwstr>1033-12.1.23155.23155</vt:lpwstr>
  </property>
</Properties>
</file>